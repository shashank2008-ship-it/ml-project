
<file path=[Content_Types].xml><?xml version="1.0" encoding="utf-8"?>
<Types xmlns="http://schemas.openxmlformats.org/package/2006/content-types">
  <Default Extension="0&amp;ixid=M3wxMjA3fDB8MHxzZWFyY2h8Nnx8dHJhZmZpYyUyMGNvbmdlc3Rpb258ZW58MHx8MHx8fDA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2" r:id="rId20"/>
    <p:sldId id="271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538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53931-EBAB-0A3E-D206-A479F54D3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0D323-7DD9-E07A-E83D-8E47C9AEF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04C34-244E-2F5F-92A0-871066805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9EAD0-EB1D-88A8-057B-72F581648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084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92AB-C52D-D81E-4CB2-374929E6A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46E80-FDC8-C370-6F65-B6A917E93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E00D7-885F-5743-D31A-9293299B5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C2F24-6553-73F5-0065-3646F3293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732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0E153-C5CC-141C-7E7D-BD932245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F0192-8287-0A38-382E-697B3D3D8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0889A-5147-6A67-A502-9148BB3AF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D6B66-F361-8292-1CDC-E0B8D78A2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57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B7BE6-CD65-FDC6-30D2-4F3BA8DD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96EF7-277B-FE16-0453-A50E89E3E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30EE2-C448-C7DC-524F-B628C21C7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6E978-0062-51AE-FDA0-5CEDD59BCC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03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0&amp;ixid=M3wxMjA3fDB8MHxzZWFyY2h8Nnx8dHJhZmZpYyUyMGNvbmdlc3Rpb258ZW58MHx8MHx8fDA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0"/>
            <a:ext cx="3337560" cy="5143500"/>
          </a:xfrm>
          <a:prstGeom prst="rect">
            <a:avLst/>
          </a:prstGeom>
          <a:solidFill>
            <a:srgbClr val="051D3A"/>
          </a:solidFill>
          <a:ln/>
        </p:spPr>
      </p:sp>
      <p:sp>
        <p:nvSpPr>
          <p:cNvPr id="3" name="Shape 1"/>
          <p:cNvSpPr/>
          <p:nvPr/>
        </p:nvSpPr>
        <p:spPr>
          <a:xfrm>
            <a:off x="6377940" y="1474470"/>
            <a:ext cx="2194560" cy="2194560"/>
          </a:xfrm>
          <a:prstGeom prst="ellipse">
            <a:avLst/>
          </a:prstGeom>
          <a:ln w="19050">
            <a:solidFill>
              <a:srgbClr val="3371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97980" y="1794510"/>
            <a:ext cx="1554480" cy="1554480"/>
          </a:xfrm>
          <a:prstGeom prst="ellipse">
            <a:avLst/>
          </a:prstGeom>
          <a:ln w="19050">
            <a:solidFill>
              <a:srgbClr val="3371A5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18020" y="2114550"/>
            <a:ext cx="914400" cy="914400"/>
          </a:xfrm>
          <a:prstGeom prst="ellipse">
            <a:avLst/>
          </a:prstGeom>
          <a:ln w="19050">
            <a:solidFill>
              <a:srgbClr val="3371A5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5492" y="2462022"/>
            <a:ext cx="219456" cy="219456"/>
          </a:xfrm>
          <a:prstGeom prst="ellipse">
            <a:avLst/>
          </a:prstGeom>
          <a:solidFill>
            <a:srgbClr val="3371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594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7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960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 Level Prediction Using Random Forest and Gradient-Boosted Trees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914400" cy="0"/>
          </a:xfrm>
          <a:prstGeom prst="line">
            <a:avLst/>
          </a:prstGeom>
          <a:noFill/>
          <a:ln w="25400">
            <a:solidFill>
              <a:srgbClr val="3371A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971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37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246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Himavanth Sai Ganesh — 2520030429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Shashank — 2520030495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3434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8E7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77440" y="43434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8E7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377440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</a:t>
            </a:r>
            <a:endParaRPr lang="en-US" sz="950" dirty="0"/>
          </a:p>
        </p:txBody>
      </p:sp>
      <p:pic>
        <p:nvPicPr>
          <p:cNvPr id="16" name="Picture 15" descr="Traffic Congestion Pictures | Download Free Images on Unsplash">
            <a:extLst>
              <a:ext uri="{FF2B5EF4-FFF2-40B4-BE49-F238E27FC236}">
                <a16:creationId xmlns:a16="http://schemas.microsoft.com/office/drawing/2014/main" id="{B2E931A7-5484-71DD-9EE1-94E0EB664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074" y="0"/>
            <a:ext cx="340629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0"/>
            <a:ext cx="3337560" cy="5143500"/>
          </a:xfrm>
          <a:prstGeom prst="rect">
            <a:avLst/>
          </a:prstGeom>
          <a:solidFill>
            <a:srgbClr val="051D3A"/>
          </a:solidFill>
          <a:ln/>
        </p:spPr>
      </p:sp>
      <p:sp>
        <p:nvSpPr>
          <p:cNvPr id="3" name="Shape 1"/>
          <p:cNvSpPr/>
          <p:nvPr/>
        </p:nvSpPr>
        <p:spPr>
          <a:xfrm>
            <a:off x="6423660" y="1520190"/>
            <a:ext cx="2103120" cy="2103120"/>
          </a:xfrm>
          <a:prstGeom prst="ellipse">
            <a:avLst/>
          </a:prstGeom>
          <a:ln w="19050">
            <a:solidFill>
              <a:srgbClr val="3371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97980" y="1794510"/>
            <a:ext cx="1554480" cy="1554480"/>
          </a:xfrm>
          <a:prstGeom prst="ellipse">
            <a:avLst/>
          </a:prstGeom>
          <a:ln w="19050">
            <a:solidFill>
              <a:srgbClr val="3371A5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72300" y="2068830"/>
            <a:ext cx="1005840" cy="1005840"/>
          </a:xfrm>
          <a:prstGeom prst="ellipse">
            <a:avLst/>
          </a:prstGeom>
          <a:ln w="19050">
            <a:solidFill>
              <a:srgbClr val="3371A5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56348" y="2452878"/>
            <a:ext cx="237744" cy="237744"/>
          </a:xfrm>
          <a:prstGeom prst="ellipse">
            <a:avLst/>
          </a:prstGeom>
          <a:solidFill>
            <a:srgbClr val="3371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 is a common urban transportation problem.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conditions change based on vehicle count, speed, time, weather and road conditions.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identify patterns in historical traffic data.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predicts congestion levels as Low, Moderate or High.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1" name="Picture 10" descr="Congestion Photos, Download The BEST Free Congestion Stock Photos &amp; HD  Images">
            <a:extLst>
              <a:ext uri="{FF2B5EF4-FFF2-40B4-BE49-F238E27FC236}">
                <a16:creationId xmlns:a16="http://schemas.microsoft.com/office/drawing/2014/main" id="{870DA01C-E733-5124-B0D8-72E31D3CB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0"/>
            <a:ext cx="33375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 changes continuously.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may not accurately capture complex relationships between traffic and environmental factors.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system is required to analyse traffic-related features and predict congestion severity.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3429000"/>
            <a:ext cx="8046720" cy="1051560"/>
          </a:xfrm>
          <a:prstGeom prst="rect">
            <a:avLst/>
          </a:prstGeom>
          <a:solidFill>
            <a:srgbClr val="051D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37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40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traffic congestion levels using Machine Learning.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7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256032" cy="256032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61848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prepare traffic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73552" y="1234440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7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73552" y="1234440"/>
            <a:ext cx="256032" cy="256032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73552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1848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preprocess the dataset.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98464" y="1234440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7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98464" y="1234440"/>
            <a:ext cx="256032" cy="256032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98464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161848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traffic patterns.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7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88920"/>
            <a:ext cx="256032" cy="256032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17296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Random Forest and Gradient-Boosted Trees models.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73552" y="2788920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7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73552" y="2788920"/>
            <a:ext cx="256032" cy="256032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73552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17296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Low, Moderate and High congestion.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98464" y="2788920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7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8464" y="2788920"/>
            <a:ext cx="256032" cy="256032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98464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317296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Traffic-related dataset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count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speed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day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/ junction characteristics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Congestion Level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349240" y="1234440"/>
            <a:ext cx="3246120" cy="1097280"/>
          </a:xfrm>
          <a:prstGeom prst="rect">
            <a:avLst/>
          </a:prstGeom>
          <a:solidFill>
            <a:srgbClr val="D8E7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577840" y="13716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37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6459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49240" y="2514600"/>
            <a:ext cx="3246120" cy="1371600"/>
          </a:xfrm>
          <a:prstGeom prst="rect">
            <a:avLst/>
          </a:prstGeom>
          <a:solidFill>
            <a:srgbClr val="051D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577840" y="26517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37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3063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3371A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577840" y="3063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0" y="3063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3371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3063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30632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3371A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89520" y="3063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loaded into the working environment using Python.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inspected to review its structure and initial records.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8046720" cy="1965960"/>
          </a:xfrm>
          <a:prstGeom prst="rect">
            <a:avLst/>
          </a:prstGeom>
          <a:solidFill>
            <a:srgbClr val="D8E7F3"/>
          </a:solidFill>
          <a:ln w="15875">
            <a:solidFill>
              <a:srgbClr val="3371A5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7498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7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CODE SCREENSHOT — DATASET LOADING CODE]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Loading and Initial Inspection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147211-4009-5ABC-8F08-C73F5A5D9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2331720"/>
            <a:ext cx="3896750" cy="1965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F99EBB-7277-B1A7-7A5F-2B71C3F21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391" y="2331719"/>
            <a:ext cx="4149968" cy="19659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/ Preprocessing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dataset structure.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types.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values.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transform the data.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 for Machine Learning.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8046720" cy="1965960"/>
          </a:xfrm>
          <a:prstGeom prst="rect">
            <a:avLst/>
          </a:prstGeom>
          <a:solidFill>
            <a:srgbClr val="D8E7F3"/>
          </a:solidFill>
          <a:ln w="15875">
            <a:solidFill>
              <a:srgbClr val="3371A5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7498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7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CODE SCREENSHOT — DATA PREPROCESSING]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E42495-F461-C3EE-1B59-B03C47168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8046720" cy="19659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used to understand traffic patterns.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relationships between traffic variables.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congestion-level distribution.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vehicle count, speed, time, weather and road-related factors.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0F3BE6-49DE-1069-D938-819EB1D94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745" y="281562"/>
            <a:ext cx="3086367" cy="43590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44CCB9-8A3F-DA31-7707-1743DF363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352" y="2423160"/>
            <a:ext cx="2831888" cy="24661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useful features from available traffic data.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temporal and spatial traffic patterns.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relevant features for model training.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146B4B-FB72-D962-FD14-DC40DFDAA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262" y="2108007"/>
            <a:ext cx="5239475" cy="24340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input features from the target variable.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traffic and environmental attributes as inputs.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Level is used as the target.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8046720" cy="1965960"/>
          </a:xfrm>
          <a:prstGeom prst="rect">
            <a:avLst/>
          </a:prstGeom>
          <a:solidFill>
            <a:srgbClr val="D8E7F3"/>
          </a:solidFill>
          <a:ln w="15875">
            <a:solidFill>
              <a:srgbClr val="3371A5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2317652"/>
            <a:ext cx="7498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7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CODE SCREENSHOT — FEATURE SELECTION]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658AF1-67A3-8A6C-F0DD-3772441D2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39815"/>
            <a:ext cx="8046720" cy="2600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prepared dataset into training and testing data.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is used to build the model.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data is used to evaluate the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F1AF88-A5B8-AB11-4B9E-9BD0B5E0B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721" y="1413803"/>
            <a:ext cx="4718977" cy="32267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an ensemble Machine Learning algorithm.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multiple decision trees.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trees work together to produce a robust prediction.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to classify congestion levels.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3CEDD4-F06D-CCC7-A254-2D03F887B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54918"/>
            <a:ext cx="2911866" cy="24846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2F3B49-3BA1-6C0A-E9F4-5809F67C6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437" y="2274835"/>
            <a:ext cx="3690117" cy="24846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build trees sequentially.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tree learns from previous errors.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capture complex and non-linear traffic patterns.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for congestion prediction.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471D62-6417-CEEA-E60A-ED2FAA1F5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259" y="210312"/>
            <a:ext cx="4130398" cy="39398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used: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D8E7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361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53619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D8E7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03120" y="15361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53619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D8E7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15361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53619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D8E7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361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53619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D8E7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15361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ROC-AUC*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9933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*if present in the actual code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AC5331F-C99C-FFAD-1175-5A959BEC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665" y="2318669"/>
            <a:ext cx="4199206" cy="22252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/>
              <a:t>OUTPUT</a:t>
            </a:r>
          </a:p>
        </p:txBody>
      </p:sp>
      <p:sp>
        <p:nvSpPr>
          <p:cNvPr id="3" name="Shape 1"/>
          <p:cNvSpPr/>
          <p:nvPr/>
        </p:nvSpPr>
        <p:spPr>
          <a:xfrm>
            <a:off x="4663440" y="1234440"/>
            <a:ext cx="0" cy="3291840"/>
          </a:xfrm>
          <a:prstGeom prst="line">
            <a:avLst/>
          </a:prstGeom>
          <a:noFill/>
          <a:ln w="19050">
            <a:solidFill>
              <a:srgbClr val="D8E7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IMG - 1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708661" y="165998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24147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IMG - 2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4892040" y="15544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42ED22-BA34-BDC5-9DA7-D0922ED47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24" y="1600200"/>
            <a:ext cx="4144994" cy="29260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573466-1571-4F27-F4D9-CF71955B9F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37"/>
          <a:stretch>
            <a:fillRect/>
          </a:stretch>
        </p:blipFill>
        <p:spPr>
          <a:xfrm>
            <a:off x="5107160" y="1726809"/>
            <a:ext cx="3511060" cy="25814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B7B73-F634-93BA-C5EB-48E92040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1CD5F7-C41D-B74C-456C-23E6A781A2D5}"/>
              </a:ext>
            </a:extLst>
          </p:cNvPr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/>
              <a:t>OUTPUT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F2AFF9-888A-708F-6A89-CF92D5C1070F}"/>
              </a:ext>
            </a:extLst>
          </p:cNvPr>
          <p:cNvSpPr/>
          <p:nvPr/>
        </p:nvSpPr>
        <p:spPr>
          <a:xfrm>
            <a:off x="4663440" y="1234440"/>
            <a:ext cx="0" cy="3291840"/>
          </a:xfrm>
          <a:prstGeom prst="line">
            <a:avLst/>
          </a:prstGeom>
          <a:noFill/>
          <a:ln w="19050">
            <a:solidFill>
              <a:srgbClr val="D8E7F3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4E6FE8-89C1-A48E-134B-EFBE5ECAE331}"/>
              </a:ext>
            </a:extLst>
          </p:cNvPr>
          <p:cNvSpPr txBox="1"/>
          <p:nvPr/>
        </p:nvSpPr>
        <p:spPr>
          <a:xfrm>
            <a:off x="54864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IMG - 3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682B0E-079F-54C5-1EA6-B8AE56D3F369}"/>
              </a:ext>
            </a:extLst>
          </p:cNvPr>
          <p:cNvSpPr txBox="1"/>
          <p:nvPr/>
        </p:nvSpPr>
        <p:spPr>
          <a:xfrm>
            <a:off x="708661" y="165998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B6A0C0-FBFC-E62A-870F-AC36C3C3724B}"/>
              </a:ext>
            </a:extLst>
          </p:cNvPr>
          <p:cNvSpPr txBox="1"/>
          <p:nvPr/>
        </p:nvSpPr>
        <p:spPr>
          <a:xfrm>
            <a:off x="489204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IMG - 4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8980FF-5435-FCE2-798C-990633B038C2}"/>
              </a:ext>
            </a:extLst>
          </p:cNvPr>
          <p:cNvSpPr txBox="1"/>
          <p:nvPr/>
        </p:nvSpPr>
        <p:spPr>
          <a:xfrm>
            <a:off x="4892040" y="15544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D5BECA4-092D-FFCF-478F-9A3DADD46316}"/>
              </a:ext>
            </a:extLst>
          </p:cNvPr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C755D7A-2CD0-0599-78E0-1D61573E7148}"/>
              </a:ext>
            </a:extLst>
          </p:cNvPr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A1E320-F721-24BE-A226-6877D8C315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24"/>
          <a:stretch>
            <a:fillRect/>
          </a:stretch>
        </p:blipFill>
        <p:spPr>
          <a:xfrm>
            <a:off x="692834" y="1641634"/>
            <a:ext cx="3696286" cy="2599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AE581C-7B38-3258-23E1-5873A06BE6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033"/>
          <a:stretch>
            <a:fillRect/>
          </a:stretch>
        </p:blipFill>
        <p:spPr>
          <a:xfrm>
            <a:off x="4823461" y="1729667"/>
            <a:ext cx="4046218" cy="24203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3644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ECE34-4442-DB83-B574-B7885F3A4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C4AA7D-D505-647F-917D-CE6072B6279B}"/>
              </a:ext>
            </a:extLst>
          </p:cNvPr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/>
              <a:t>OUTPUT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6A84D9B-70E8-D650-B286-ECA3946A3EA7}"/>
              </a:ext>
            </a:extLst>
          </p:cNvPr>
          <p:cNvSpPr/>
          <p:nvPr/>
        </p:nvSpPr>
        <p:spPr>
          <a:xfrm>
            <a:off x="4663440" y="1234440"/>
            <a:ext cx="0" cy="3291840"/>
          </a:xfrm>
          <a:prstGeom prst="line">
            <a:avLst/>
          </a:prstGeom>
          <a:noFill/>
          <a:ln w="19050">
            <a:solidFill>
              <a:srgbClr val="D8E7F3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694C65-7C38-236E-B5C9-F83563ADD7D5}"/>
              </a:ext>
            </a:extLst>
          </p:cNvPr>
          <p:cNvSpPr txBox="1"/>
          <p:nvPr/>
        </p:nvSpPr>
        <p:spPr>
          <a:xfrm>
            <a:off x="54864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IMG - 5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99DDC11-4040-1686-D869-E772D171C757}"/>
              </a:ext>
            </a:extLst>
          </p:cNvPr>
          <p:cNvSpPr txBox="1"/>
          <p:nvPr/>
        </p:nvSpPr>
        <p:spPr>
          <a:xfrm>
            <a:off x="708661" y="165998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A8AB280-C0EB-52C9-408A-D5F2F526657A}"/>
              </a:ext>
            </a:extLst>
          </p:cNvPr>
          <p:cNvSpPr txBox="1"/>
          <p:nvPr/>
        </p:nvSpPr>
        <p:spPr>
          <a:xfrm>
            <a:off x="489204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IMG - 6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6D9C318-6D93-8F8A-3D0B-5B3AE911B558}"/>
              </a:ext>
            </a:extLst>
          </p:cNvPr>
          <p:cNvSpPr txBox="1"/>
          <p:nvPr/>
        </p:nvSpPr>
        <p:spPr>
          <a:xfrm>
            <a:off x="4892040" y="15544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43C2C03-07EE-3B62-8C4C-492CB450DCA3}"/>
              </a:ext>
            </a:extLst>
          </p:cNvPr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0BEFF6-35F7-4A84-671E-C5B88C389A83}"/>
              </a:ext>
            </a:extLst>
          </p:cNvPr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00A7-3C8C-B321-B7AB-695B69116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1" y="1612774"/>
            <a:ext cx="3840480" cy="29317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01F72C-268A-F3D4-D697-546EDBCAA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95044"/>
            <a:ext cx="3568724" cy="30495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6561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5A688-8365-9AD5-CB09-31A02E015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B420AB-77D5-8025-1183-0BB10BFA0340}"/>
              </a:ext>
            </a:extLst>
          </p:cNvPr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/>
              <a:t>OUTPUT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602FE8-BCFA-6289-C21C-445A8EA45F20}"/>
              </a:ext>
            </a:extLst>
          </p:cNvPr>
          <p:cNvSpPr/>
          <p:nvPr/>
        </p:nvSpPr>
        <p:spPr>
          <a:xfrm>
            <a:off x="4663440" y="1234440"/>
            <a:ext cx="0" cy="3291840"/>
          </a:xfrm>
          <a:prstGeom prst="line">
            <a:avLst/>
          </a:prstGeom>
          <a:noFill/>
          <a:ln w="19050">
            <a:solidFill>
              <a:srgbClr val="D8E7F3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0A649B-4946-3D1F-FF1A-0CFD925B03ED}"/>
              </a:ext>
            </a:extLst>
          </p:cNvPr>
          <p:cNvSpPr txBox="1"/>
          <p:nvPr/>
        </p:nvSpPr>
        <p:spPr>
          <a:xfrm>
            <a:off x="54864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1BD472-6654-E78C-3A3A-0153ADC26AF8}"/>
              </a:ext>
            </a:extLst>
          </p:cNvPr>
          <p:cNvSpPr txBox="1"/>
          <p:nvPr/>
        </p:nvSpPr>
        <p:spPr>
          <a:xfrm>
            <a:off x="708661" y="165998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43C96C-534D-F2D9-2DE5-48A1E7622D8C}"/>
              </a:ext>
            </a:extLst>
          </p:cNvPr>
          <p:cNvSpPr txBox="1"/>
          <p:nvPr/>
        </p:nvSpPr>
        <p:spPr>
          <a:xfrm>
            <a:off x="489204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D44586-4E14-8B11-629D-47F36FEB629C}"/>
              </a:ext>
            </a:extLst>
          </p:cNvPr>
          <p:cNvSpPr txBox="1"/>
          <p:nvPr/>
        </p:nvSpPr>
        <p:spPr>
          <a:xfrm>
            <a:off x="4892040" y="15544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5EEAD26-28F5-7DA7-96E2-C0E483AA5605}"/>
              </a:ext>
            </a:extLst>
          </p:cNvPr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21FC938-2170-9FF6-8D44-E78A189817FD}"/>
              </a:ext>
            </a:extLst>
          </p:cNvPr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E3AAD8-7026-8FD8-4BB2-257CEF9D8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887" y="1106943"/>
            <a:ext cx="6668085" cy="33172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0409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D4B63-CFF4-0ED6-BB31-0FC7ACE01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EC58F4-E52A-1322-4A5F-8275BFDFA8F8}"/>
              </a:ext>
            </a:extLst>
          </p:cNvPr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5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Enhancements</a:t>
            </a:r>
            <a:endParaRPr lang="en-US" sz="25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F29804-974D-00A9-34AB-3540A2F4D881}"/>
              </a:ext>
            </a:extLst>
          </p:cNvPr>
          <p:cNvSpPr/>
          <p:nvPr/>
        </p:nvSpPr>
        <p:spPr>
          <a:xfrm>
            <a:off x="4663440" y="1234440"/>
            <a:ext cx="0" cy="3291840"/>
          </a:xfrm>
          <a:prstGeom prst="line">
            <a:avLst/>
          </a:prstGeom>
          <a:noFill/>
          <a:ln w="19050">
            <a:solidFill>
              <a:srgbClr val="D8E7F3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A504D6-361A-04A3-1ECC-424F1B183FB9}"/>
              </a:ext>
            </a:extLst>
          </p:cNvPr>
          <p:cNvSpPr txBox="1"/>
          <p:nvPr/>
        </p:nvSpPr>
        <p:spPr>
          <a:xfrm>
            <a:off x="54864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37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79D4EF-C49F-91EA-39B4-E51DA37A5247}"/>
              </a:ext>
            </a:extLst>
          </p:cNvPr>
          <p:cNvSpPr txBox="1"/>
          <p:nvPr/>
        </p:nvSpPr>
        <p:spPr>
          <a:xfrm>
            <a:off x="548640" y="15544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predicts traffic congestion using Machine Learning.</a:t>
            </a:r>
            <a:endParaRPr lang="en-US" sz="12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time, weather and road-related features are analysed.</a:t>
            </a:r>
            <a:endParaRPr lang="en-US" sz="12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Gradient-Boosted Trees are used for prediction.</a:t>
            </a:r>
            <a:endParaRPr lang="en-US" sz="12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classifies congestion into Low, Moderate and High levels.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AF8446-418A-F2FC-1E7F-57D2D11D64C7}"/>
              </a:ext>
            </a:extLst>
          </p:cNvPr>
          <p:cNvSpPr txBox="1"/>
          <p:nvPr/>
        </p:nvSpPr>
        <p:spPr>
          <a:xfrm>
            <a:off x="489204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37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14CB52A-D751-A837-E855-24E650B5BFFB}"/>
              </a:ext>
            </a:extLst>
          </p:cNvPr>
          <p:cNvSpPr txBox="1"/>
          <p:nvPr/>
        </p:nvSpPr>
        <p:spPr>
          <a:xfrm>
            <a:off x="4892040" y="15544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data integration</a:t>
            </a:r>
            <a:endParaRPr lang="en-US" sz="12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congestion monitoring</a:t>
            </a:r>
            <a:endParaRPr lang="en-US" sz="12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Navigation-system integration</a:t>
            </a:r>
            <a:endParaRPr lang="en-US" sz="12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3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alerts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A4D940E-6AE6-5612-22EA-EB1F62893ECE}"/>
              </a:ext>
            </a:extLst>
          </p:cNvPr>
          <p:cNvSpPr/>
          <p:nvPr/>
        </p:nvSpPr>
        <p:spPr>
          <a:xfrm>
            <a:off x="8366760" y="464058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51D3A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4153396-5837-07EB-0CF3-2FFA37A27310}"/>
              </a:ext>
            </a:extLst>
          </p:cNvPr>
          <p:cNvSpPr txBox="1"/>
          <p:nvPr/>
        </p:nvSpPr>
        <p:spPr>
          <a:xfrm>
            <a:off x="8366760" y="46405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96895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0" y="822960"/>
            <a:ext cx="2377440" cy="2377440"/>
          </a:xfrm>
          <a:prstGeom prst="ellipse">
            <a:avLst/>
          </a:prstGeom>
          <a:ln w="19050">
            <a:solidFill>
              <a:srgbClr val="3371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03320" y="1143000"/>
            <a:ext cx="1737360" cy="1737360"/>
          </a:xfrm>
          <a:prstGeom prst="ellipse">
            <a:avLst/>
          </a:prstGeom>
          <a:ln w="19050">
            <a:solidFill>
              <a:srgbClr val="3371A5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1463040"/>
            <a:ext cx="1097280" cy="1097280"/>
          </a:xfrm>
          <a:prstGeom prst="ellipse">
            <a:avLst/>
          </a:prstGeom>
          <a:ln w="19050">
            <a:solidFill>
              <a:srgbClr val="3371A5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62272" y="1901952"/>
            <a:ext cx="219456" cy="219456"/>
          </a:xfrm>
          <a:prstGeom prst="ellipse">
            <a:avLst/>
          </a:prstGeom>
          <a:solidFill>
            <a:srgbClr val="3371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0" y="3886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337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0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Himavanth Sai Ganesh — 2520030429</a:t>
            </a:r>
            <a:endParaRPr lang="en-US" sz="13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Shashank — 2520030495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626</Words>
  <Application>Microsoft Office PowerPoint</Application>
  <PresentationFormat>On-screen Show (16:9)</PresentationFormat>
  <Paragraphs>158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Himavanth Sai Ganesh</cp:lastModifiedBy>
  <cp:revision>4</cp:revision>
  <dcterms:created xsi:type="dcterms:W3CDTF">2026-09-21T15:33:57Z</dcterms:created>
  <dcterms:modified xsi:type="dcterms:W3CDTF">2026-10-13T18:45:38Z</dcterms:modified>
</cp:coreProperties>
</file>